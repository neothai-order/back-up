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52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-91440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2B5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365760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244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Neo Sales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FDBFE"/>
                </a:solidFill>
                <a:latin typeface="Arial"/>
              </a:defRPr>
            </a:pPr>
            <a:r>
              <a:t>사용자 매뉴얼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3C5FD"/>
                </a:solidFill>
                <a:latin typeface="Arial"/>
              </a:defRPr>
            </a:pPr>
            <a:r>
              <a:t>영업 주문 관리 시스템  |  고객등록 · 견적 · 주문 · 출고 · 리포트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  <a:latin typeface="Arial"/>
              </a:defRPr>
            </a:pPr>
            <a:r>
              <a:t>Neobiotech Thailand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목차  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회원 가입 및 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계정 등록, 로그인, 비밀번호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고객 등록 및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신규 고객 등록, 승인, 고객 마스터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고객 검색 및 상세정보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통합 검색, 고객 상세, 정보 수정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0604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74320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견적 작성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새 견적, 항목 선택, 패키지 빌더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60604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274320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주문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주문 생성, 승인, 주문 이력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60604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75320" y="274320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출고 및 배송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출고 처리, 발송 완료, EMS 추적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406908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위탄 출고 및 정산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Consignment 현황, 정산 처리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93192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34840" y="406908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리포트 및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발송완료 리포트, Excel/Sheets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93192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75320" y="406908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근태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출퇴근 기록, 근태 요약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25780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39496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5349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편의 기능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715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다국어, 사운드, 알림, 모바일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25780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434840" y="5394960"/>
            <a:ext cx="502920" cy="365760"/>
          </a:xfrm>
          <a:prstGeom prst="roundRect">
            <a:avLst>
              <a:gd name="adj" fmla="val 4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349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관리자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5715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계정 관리, 메뉴 권한, 설정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01  회원 가입 및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Account Registration &amp;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로그인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(1) 사원번호 (Employee ID) 입력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     회사에서 부여받은 사원번호를 입력합니다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(2) 비밀번호 입력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     등록시 설정한 비밀번호를 입력합니다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(3) 로그인 버튼 클릭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     성공 시 메인 화면으로 이동합니다</a:t>
            </a:r>
          </a:p>
          <a:p>
            <a:pPr>
              <a:spcAft>
                <a:spcPts val="400"/>
              </a:spcAft>
              <a:defRPr sz="6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EF4444"/>
                </a:solidFill>
                <a:latin typeface="Arial"/>
              </a:defRPr>
            </a:pPr>
            <a:r>
              <a:t>[!] 중복 로그인 방지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     동일 계정으로 다른 기기에서 로그인 시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Arial"/>
              </a:defRPr>
            </a:pPr>
            <a:r>
              <a:t>     기존 세션이 자동 종료됩니다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회원 가입 (Sign Up)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572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12280" y="184708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4708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가입 탭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402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로그인 화면 하단의</a:t>
            </a:r>
            <a:br/>
            <a:r>
              <a:t>"Sign Up" 탭을 클릭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834640"/>
            <a:ext cx="4572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12280" y="294436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4436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정보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3375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사원번호, 이름, 비밀번호,</a:t>
            </a:r>
            <a:br/>
            <a:r>
              <a:t>부서를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931920"/>
            <a:ext cx="4572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404164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04164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계정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4348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회원가입 버튼을 누르면</a:t>
            </a:r>
            <a:br/>
            <a:r>
              <a:t>계정이 생성됩니다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5029200"/>
            <a:ext cx="4572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2280" y="513892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13892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관리자 권한 부여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532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관리자가 메뉴 접근 권한을</a:t>
            </a:r>
            <a:br/>
            <a:r>
              <a:t>부여하면 사용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02  고객 등록 및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Customer Registration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신규 고객 등록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메뉴: 고객등록 &gt; 신규 등록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F2937"/>
                </a:solidFill>
                <a:latin typeface="Arial"/>
              </a:defRPr>
            </a:pPr>
            <a:r>
              <a:t>필수 입력 항목: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고객명 (Hospital/Clinic 이름)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고객 유형 (병원/클리닉/회사/대학/일반)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Tax ID (세금 번호)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연락처 (전화번호)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주소 (Google Places 자동완성 지원)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F2937"/>
                </a:solidFill>
                <a:latin typeface="Arial"/>
              </a:defRPr>
            </a:pPr>
            <a:r>
              <a:t>선택 입력 항목: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사업자 등록증 업로드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추가 배송지 등록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메모/비고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고객 승인 워크플로우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5720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12280" y="184708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4708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신청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402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영업사원이 고객 등록 신청</a:t>
            </a:r>
            <a:br/>
            <a:r>
              <a:t>상태: "대기중"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926080"/>
            <a:ext cx="45720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12280" y="303580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3580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관리자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4290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관리자가 등록 내용 확인</a:t>
            </a:r>
            <a:br/>
            <a:r>
              <a:t>중복 고객 자동 검출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114800"/>
            <a:ext cx="45720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422452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22452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승인 / 거절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6177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승인 시 고객 활성화</a:t>
            </a:r>
            <a:br/>
            <a:r>
              <a:t>거절 시 사유 입력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5303520"/>
            <a:ext cx="45720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2280" y="5413248"/>
            <a:ext cx="384048" cy="384048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41324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알림 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8064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신청자에게 결과 알림</a:t>
            </a:r>
            <a:br/>
            <a:r>
              <a:t>푸시 알림 자동 발송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5669280"/>
            <a:ext cx="4572000" cy="5486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5715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[!] 중복 고객 자동 감지: 병원/클리닉 접두어 제거 비교, Dr./Mr./Ms. 변형 감지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03  고객 검색 및 상세정보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Customer Search &amp;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통합 검색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헤더 검색바에서 고객명/ERP코드 입력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Fuzzy 검색: 오타 자동 보정 (유사도 매칭)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ERP 코드 검색: 정확한 코드로 조회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영업담당별 필터링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상태 필터: 활성/비활성/VIP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검색 결과 하이라이트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고객 상세 정보 패널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고객명, 유형, Tax ID, 주소, 연락처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영업 담당자 / 등록일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바로 주문 버튼: 상세에서 바로 주문 생성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수정 모드: 관리자만 정보 편집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고객 마스터 / 정보 찾기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9202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847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고객 마스터 리스트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1488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전체 고객 목록 조회</a:t>
            </a:r>
            <a:br/>
            <a:r>
              <a:t>영업담당 필터 / 정렬</a:t>
            </a:r>
            <a:br/>
            <a:r>
              <a:t>Excel 다운로드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7180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315468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0815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고객 정보 찾기 (DBD/RD)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383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DBD 기업정보 조회</a:t>
            </a:r>
            <a:br/>
            <a:r>
              <a:t>RD VAT 등록정보 조회</a:t>
            </a:r>
            <a:br/>
            <a:r>
              <a:t>외부 사이트 연결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20624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43891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#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315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Tax ID 복사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617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클릭 한 번으로 Tax ID 복사</a:t>
            </a:r>
            <a:br/>
            <a:r>
              <a:t>클립보드 자동 복사</a:t>
            </a:r>
            <a:br/>
            <a:r>
              <a:t>토스트 알림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44068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0" y="56235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550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연락처 복사 및 바로연결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852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전화번호 클릭 시 복사</a:t>
            </a:r>
            <a:br/>
            <a:r>
              <a:t>모바일에서 바로 전화 걸기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04  견적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Quotation /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견적 작성 절차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고객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검색으로 고객 선택 또는</a:t>
            </a:r>
            <a:br/>
            <a:r>
              <a:t>미등록 고객 직접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0292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3580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3580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항목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카테고리 트리에서 항목 선택</a:t>
            </a:r>
            <a:br/>
            <a:r>
              <a:t>또는 자동완성으로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0292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22452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수량/가격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수량 및 단가 입력</a:t>
            </a:r>
            <a:br/>
            <a:r>
              <a:t>할인 적용 가능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50292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5413248"/>
            <a:ext cx="384048" cy="384048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1324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견적서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미리보기 확인 후 저장</a:t>
            </a:r>
            <a:br/>
            <a:r>
              <a:t>서명 패드 지원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패키지 빌더 &amp; 부가 기능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37360"/>
            <a:ext cx="5029200" cy="219456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8288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[PKG] 패키지 빌더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기본 패키지 선택 후 개별 항목 추가/수정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항목별 수량 설정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자동완성으로 빠른 항목 검색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패키지 총액 자동 계산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4800"/>
            <a:ext cx="5029200" cy="237744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20624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[+] 부가 기능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이전 견적서 불러오기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수동 입력 모드 (자유 항목 입력)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미결 견적 목록 관리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견적서 번호 자동 생성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VAT 자동 계산 (7/107)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태국 바트(฿) 통화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05  주문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Order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주문 생성 절차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고객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활성/비활성 고객 선택</a:t>
            </a:r>
            <a:br/>
            <a:r>
              <a:t>고객 상세에서 바로 주문도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0292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3580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3580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주문일 및 항목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달력으로 주문일 지정</a:t>
            </a:r>
            <a:br/>
            <a:r>
              <a:t>카테고리/패키지에서 항목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0292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22452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배송지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등록된 배송지 선택</a:t>
            </a:r>
            <a:br/>
            <a:r>
              <a:t>새 배송지 추가 가능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50292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5413248"/>
            <a:ext cx="384048" cy="384048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1324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첨부파일 및 제출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사진/문서 첨부 가능</a:t>
            </a:r>
            <a:br/>
            <a:r>
              <a:t>미리보기 확인 후 제출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주문 상태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3736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0" y="19202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1847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미결 주문 (Pending)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1488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승인 대기 중인 주문 목록</a:t>
            </a:r>
            <a:br/>
            <a:r>
              <a:t>관리자가 승인/거절 처리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97180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315468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0815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승인된 주문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83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승인 완료된 주문</a:t>
            </a:r>
            <a:br/>
            <a:r>
              <a:t>출고 대기 상태로 전환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0624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83680" y="43891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#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315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주문 완료 조회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617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완료된 주문 이력 조회</a:t>
            </a:r>
            <a:br/>
            <a:r>
              <a:t>기간별/고객별 필터링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44068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0" y="56235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550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첨부파일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852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주문별 첨부 문서 확인</a:t>
            </a:r>
            <a:br/>
            <a:r>
              <a:t>사진 미리보기 지원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06  출고 및 배송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Shipping &amp; Delivery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출고 처리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출고 대기 주문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승인된 주문 중 출고 대기 목록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94436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4436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출고 유형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일반출고 / 패키지출고 / 위탁출고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04164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4164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배송 정보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배송지 확인, 송장번호(EMS) 입력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920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5138928"/>
            <a:ext cx="384048" cy="384048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389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발송 완료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출고 완료 처리 및 알림 발송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EMS 추적 및 배송 조회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3736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[EMS] EMS 추적 (Thailand Post API)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송장번호 입력 후 실시간 배송 조회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배송 단계별 상태 표시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출고 리스트에서 바로 추적 가능</a:t>
            </a:r>
          </a:p>
          <a:p>
            <a:pPr>
              <a:spcAft>
                <a:spcPts val="400"/>
              </a:spcAft>
              <a:defRPr sz="6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[MAP] 배송 지도 표시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배송 경로 지도 시각화 (Leaflet + OpenStreetMap)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각 배송 지점 마커 표시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배송 날짜/시간 정보 표시</a:t>
            </a:r>
          </a:p>
          <a:p>
            <a:pPr>
              <a:spcAft>
                <a:spcPts val="400"/>
              </a:spcAft>
              <a:defRPr sz="6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[RPT] 발송 완료 리포트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기간별 발송 완료 목록 조회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상세정보 토글 확인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Google Sheets / Excel 내보내기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07  위탁 출고 및 정산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Consignment &amp;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위탁 출고 현황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메뉴: 주문 &gt; 위탁 출고 현황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Consignment Master 데이터 자동 로드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고객별 위탁 재고 현황 조회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모델명, 수량, 위탁일 표시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상태 표시 (위탁중/정산완료)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Firestore 캐싱으로 빠른 로딩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정산 처리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정산 프로세스: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W50114 &gt; 50114 패턴 매칭으로 자동 연결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BR 문서 조회로 정산 확인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직접출고 + 위탁정산 복합 주문 지원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정산 완료 상태 자동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데이터 내보내기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029200" cy="123444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9202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XL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847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Excel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1488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위탁 현황 데이터를</a:t>
            </a:r>
            <a:br/>
            <a:r>
              <a:t>Excel/CSV 파일로 다운로드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08960"/>
            <a:ext cx="5029200" cy="123444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32918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218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Google Sheets 연동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5204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발송완료 리포트를</a:t>
            </a:r>
            <a:br/>
            <a:r>
              <a:t>Google Sheets로 직접 전송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480560"/>
            <a:ext cx="5029200" cy="123444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46634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@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5902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이메일 자동 발송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8920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태국 시간 오후 5시</a:t>
            </a:r>
            <a:br/>
            <a:r>
              <a:t>일일 리포트 자동 이메일 발송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08  리포트 및 데이터 내보내기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Reports &amp; Data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898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발송 완료 리포트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기간별 발송 완료 목록 조회</a:t>
            </a:r>
            <a:br/>
            <a:r>
              <a:t>고객별/항목별 필터링</a:t>
            </a:r>
            <a:br/>
            <a:r>
              <a:t>상세 정보 토글 확인</a:t>
            </a:r>
            <a:br/>
            <a:r>
              <a:t>VAT 역산 자동 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4630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3898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주문 완료 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6916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완료된 주문 이력 전체 조회</a:t>
            </a:r>
            <a:br/>
            <a:r>
              <a:t>기간 및 카테고리 필터</a:t>
            </a:r>
            <a:br/>
            <a:r>
              <a:t>주문 상세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4630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3898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고객 마스터 리스트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6916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전체 고객 목록 조회</a:t>
            </a:r>
            <a:br/>
            <a:r>
              <a:t>영업담당별 필터링</a:t>
            </a:r>
            <a:br/>
            <a:r>
              <a:t>정렬 옵션 (이름/날짜/담당)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데이터 내보내기 옵션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Excel (.xlsx)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Arial"/>
              </a:defRPr>
            </a:pPr>
            <a:r>
              <a:t>고객 마스터, 제품 리스트,</a:t>
            </a:r>
            <a:br/>
            <a:r>
              <a:t>근태 기록, 위탁 현황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429768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Google Sheets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846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Arial"/>
              </a:defRPr>
            </a:pPr>
            <a:r>
              <a:t>발송완료 리포트를</a:t>
            </a:r>
            <a:br/>
            <a:r>
              <a:t>스프레드시트로 직접 전송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29768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46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Arial"/>
              </a:defRPr>
            </a:pPr>
            <a:r>
              <a:t>계정 목록,</a:t>
            </a:r>
            <a:br/>
            <a:r>
              <a:t>위탁 데이터 내보내기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429768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846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Arial"/>
              </a:defRPr>
            </a:pPr>
            <a:r>
              <a:t>근태 요약 보고서</a:t>
            </a:r>
            <a:br/>
            <a:r>
              <a:t>PDF 내보내기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09  근태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Attendance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출퇴근 기록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메뉴: 근태 &gt; 출퇴근 기록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출근(시작) 버튼 &gt; 출근 시간 자동 기록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퇴근(종료) 버튼 &gt; 퇴근 시간 자동 기록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GPS 위치 자동 기록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오늘 근태 상태 실시간 표시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근무 메모/특이사항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근태 요약 조회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5029200" cy="146304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기간별 근태 이력 조회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일별 근무시간 / 위치 / 거리 표시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Excel 내보내기 (.xlsx)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PDF 내보내기 (보고서 형식)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근태 기능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9202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847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출근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1488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버튼 한 번으로 출근</a:t>
            </a:r>
            <a:br/>
            <a:r>
              <a:t>GPS 위치 자동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1752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32004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GP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1272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위치 추적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4290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GPS 기반 근무 위치 기록</a:t>
            </a:r>
            <a:br/>
            <a:r>
              <a:t>이동 거리 자동 계산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29768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44805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407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월간 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7091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월별 근태 통계</a:t>
            </a:r>
            <a:br/>
            <a:r>
              <a:t>총 근무시간 / 출근일수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57784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0" y="57607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6875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내보내기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9893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Excel / PDF 다운로드</a:t>
            </a:r>
            <a:br/>
            <a:r>
              <a:t>보고서 형식 지원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10  편의 기능 및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Convenience Features &amp;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201168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i18n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다국어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002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한국어 / English / Thai</a:t>
            </a:r>
            <a:br/>
            <a:r>
              <a:t>헤더의 언어 버튼으로 전환</a:t>
            </a:r>
            <a:br/>
            <a:r>
              <a:t>달력, 메뉴 등 전체 번역 적용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20116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3716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SFX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사운드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6002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버튼 클릭음 / 닫기음</a:t>
            </a:r>
            <a:br/>
            <a:r>
              <a:t>로그인/로그아웃 사운드</a:t>
            </a:r>
            <a:br/>
            <a:r>
              <a:t>ON/OFF 토글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566160" cy="201168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3716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뷰 모드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6002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Desktop / Tablet(10") / Mobile</a:t>
            </a:r>
            <a:br/>
            <a:r>
              <a:t>관리자가 화면 모드 선택</a:t>
            </a:r>
            <a:br/>
            <a:r>
              <a:t>디바이스에 맞는 최적화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3566160" cy="201168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84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알림 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862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실시간 푸시 알림 (FCM)</a:t>
            </a:r>
            <a:br/>
            <a:r>
              <a:t>주문/승인/출고 알림</a:t>
            </a:r>
            <a:br/>
            <a:r>
              <a:t>알림 패널에서 확인/삭제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474720"/>
            <a:ext cx="3566160" cy="201168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60" y="36576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584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온라인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8862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현재 접속중인 사용자 표시</a:t>
            </a:r>
            <a:br/>
            <a:r>
              <a:t>부서별 필터링</a:t>
            </a:r>
            <a:br/>
            <a:r>
              <a:t>실시간 접속 상태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474720"/>
            <a:ext cx="3566160" cy="2011680"/>
          </a:xfrm>
          <a:prstGeom prst="roundRect">
            <a:avLst>
              <a:gd name="adj" fmla="val 4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21040" y="36576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84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메신저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8862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내부 채팅 기능</a:t>
            </a:r>
            <a:br/>
            <a:r>
              <a:t>실시간 메시지 송수신</a:t>
            </a:r>
            <a:br/>
            <a:r>
              <a:t>안읽 배지 표시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TIP: 모바일에서는 하단 네비게이션 바로 주요 기능에 빠르게 접근  |  PWA 지원으로 홈 화면에 설치하여 앱처럼 사용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11  관리자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Administrator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계정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메뉴: 시스템 &gt; 계정 관리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부서별 사용자 리스트 조회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사용자별 메뉴 권한 부여/해제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계정 수정/삭제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CSV로 대량 계정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메뉴 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메뉴: 시스템 &gt; 메뉴 설정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각 메뉴 항목 활성화/비활성화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메뉴명 변경 시 권한 시스템 자동 동기화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설정 변경 즉시 전체 사용자에게 적용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rial"/>
              </a:defRPr>
            </a:pPr>
            <a:r>
              <a:t>권한 관리 시스템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029200" cy="47548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메뉴별 접근 권한: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F2937"/>
                </a:solidFill>
                <a:latin typeface="Arial"/>
              </a:defRPr>
            </a:pPr>
            <a:r>
              <a:t>  고객등록 | 고객승인 | 고객리스트 | 고객정보찾기</a:t>
            </a:r>
          </a:p>
          <a:p>
            <a:pPr>
              <a:spcAft>
                <a:spcPts val="400"/>
              </a:spcAft>
              <a:defRPr sz="1100" b="0">
                <a:solidFill>
                  <a:srgbClr val="1F2937"/>
                </a:solidFill>
                <a:latin typeface="Arial"/>
              </a:defRPr>
            </a:pPr>
            <a:r>
              <a:t>  견적 | 주문 | 미결주문 | 주문완료조회</a:t>
            </a:r>
          </a:p>
          <a:p>
            <a:pPr>
              <a:spcAft>
                <a:spcPts val="400"/>
              </a:spcAft>
              <a:defRPr sz="1100" b="0">
                <a:solidFill>
                  <a:srgbClr val="1F2937"/>
                </a:solidFill>
                <a:latin typeface="Arial"/>
              </a:defRPr>
            </a:pPr>
            <a:r>
              <a:t>  위탁출고 | 데모 | 출고 | 배송조회</a:t>
            </a:r>
          </a:p>
          <a:p>
            <a:pPr>
              <a:spcAft>
                <a:spcPts val="400"/>
              </a:spcAft>
              <a:defRPr sz="1100" b="0">
                <a:solidFill>
                  <a:srgbClr val="1F2937"/>
                </a:solidFill>
                <a:latin typeface="Arial"/>
              </a:defRPr>
            </a:pPr>
            <a:r>
              <a:t>  추적 | 근태 | 제품등록 | 메신저</a:t>
            </a:r>
          </a:p>
          <a:p>
            <a:pPr>
              <a:spcAft>
                <a:spcPts val="400"/>
              </a:spcAft>
              <a:defRPr sz="6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권한 요청 기능: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권한 없는 메뉴 접근 시 안내 메시지 표시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"권한 요청" 버튼으로 관리자에게 요청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관리자에게 실시간 알림 전송</a:t>
            </a:r>
          </a:p>
          <a:p>
            <a:pPr>
              <a:spcAft>
                <a:spcPts val="400"/>
              </a:spcAft>
              <a:defRPr sz="6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공지사항 발송:</a:t>
            </a:r>
          </a:p>
          <a:p>
            <a:pPr>
              <a:spcAft>
                <a:spcPts val="400"/>
              </a:spcAft>
              <a:defRPr sz="400" b="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전체 사용자에게 공지사항 발송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t>  - 부서별 대상 지정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모바일 사용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Arial"/>
              </a:defRPr>
            </a:pPr>
            <a:r>
              <a:t>Mobile Usage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고객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002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고객 등록</a:t>
            </a:r>
            <a:br/>
            <a:r>
              <a:t>고객 승인</a:t>
            </a:r>
            <a:br/>
            <a:r>
              <a:t>고객 리스트</a:t>
            </a:r>
            <a:br/>
            <a:r>
              <a:t>고객 정보 찾기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3716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주문/견적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6002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새 견적 / 미결 견적</a:t>
            </a:r>
            <a:br/>
            <a:r>
              <a:t>새 주문 / 미결 주문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3716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출고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6002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출고 대기</a:t>
            </a:r>
            <a:br/>
            <a:r>
              <a:t>발송 완료</a:t>
            </a:r>
            <a:br/>
            <a:r>
              <a:t>배송 추적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58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리포트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60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주문완료 조회</a:t>
            </a:r>
            <a:br/>
            <a:r>
              <a:t>발송 리포트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490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60" y="39319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858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근태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160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출퇴근 기록</a:t>
            </a:r>
            <a:br/>
            <a:r>
              <a:t>근태 요약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490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21040" y="39319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858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160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Arial"/>
              </a:defRPr>
            </a:pPr>
            <a:r>
              <a:t>계정 정보</a:t>
            </a:r>
            <a:br/>
            <a:r>
              <a:t>언어 설정</a:t>
            </a:r>
            <a:br/>
            <a:r>
              <a:t>사운드 ON/OFF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11247120" cy="73152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PWA 설치: 모바일 브라우저에서 앱 URL 접속 &gt; "홈 화면에 추가" &gt; 앱처럼 사용 가능!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52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-91440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2B5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3657600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244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FDBFE"/>
                </a:solidFill>
                <a:latin typeface="Arial"/>
              </a:defRPr>
            </a:pPr>
            <a:r>
              <a:t>문의사항이 있으시면 관리자에게 연락해 주세요.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3C5FD"/>
                </a:solidFill>
                <a:latin typeface="Arial"/>
              </a:defRPr>
            </a:pPr>
            <a:r>
              <a:t>Neo Sales App  |  Neobiotech Thailand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  <a:latin typeface="Arial"/>
              </a:defRPr>
            </a:pPr>
            <a:r>
              <a:t>https://neothai-order.web.app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